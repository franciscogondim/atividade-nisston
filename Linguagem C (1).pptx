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8" r:id="rId4"/>
    <p:sldId id="260" r:id="rId5"/>
    <p:sldId id="261" r:id="rId6"/>
    <p:sldId id="262" r:id="rId7"/>
    <p:sldId id="264" r:id="rId8"/>
    <p:sldId id="265" r:id="rId9"/>
    <p:sldId id="263" r:id="rId10"/>
    <p:sldId id="257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706" autoAdjust="0"/>
  </p:normalViewPr>
  <p:slideViewPr>
    <p:cSldViewPr snapToGrid="0">
      <p:cViewPr>
        <p:scale>
          <a:sx n="76" d="100"/>
          <a:sy n="76" d="100"/>
        </p:scale>
        <p:origin x="898" y="250"/>
      </p:cViewPr>
      <p:guideLst/>
    </p:cSldViewPr>
  </p:slideViewPr>
  <p:outlineViewPr>
    <p:cViewPr>
      <p:scale>
        <a:sx n="33" d="100"/>
        <a:sy n="33" d="100"/>
      </p:scale>
      <p:origin x="0" y="-301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C7FCC-224A-400F-8376-6D981B79C49B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ADF24-A54E-4316-B15D-AE919E7825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9523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CADF24-A54E-4316-B15D-AE919E78257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590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B9968-1939-9B84-D0F4-B2635D4D4F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D4C777-9DAC-4FAD-B32F-CB5240297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06797E-BF8B-3C20-2734-84156015F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0D0C-A749-48ED-AEAD-3F7117B05D0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D21AD9-3451-B838-863E-65A633F8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9DEDD1-A1BF-5611-6D8B-9CF426F9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0DE3-394D-4A7F-A8B9-6FC4AB959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53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79751-5000-8986-FD42-959FA49C2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B4781B-FA58-21CD-1755-8687B411A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E50190-242C-A83A-12F2-BB6CBA3C0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0D0C-A749-48ED-AEAD-3F7117B05D0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04403A-F537-C278-0A5C-54A92E74F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A0D601-A3FB-6219-5A70-888E4E13E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0DE3-394D-4A7F-A8B9-6FC4AB959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747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DB41CD-916D-783A-E22C-388F1FBF4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4654E1-C0B2-9994-9FE5-99960DA35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4E59F9-D6AE-80EB-1076-74546E319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0D0C-A749-48ED-AEAD-3F7117B05D0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664DD3-4B52-E4F9-38C7-277DC21F9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F5B253-E998-2D6F-2A06-75D76ED97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0DE3-394D-4A7F-A8B9-6FC4AB959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3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1B397-B3EC-6C08-CFE7-31657C2F6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E6389A-8EB4-3E3B-9D53-8AEF0C373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D46B88-F387-38DC-94C0-8D1E0C0C3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11A5BE-1416-12FA-87DF-E63ED9B3D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0D0C-A749-48ED-AEAD-3F7117B05D0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E43B76-205B-0F10-7770-A46DBF6AD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410A3D-06F1-2E4B-393C-1932B8809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0DE3-394D-4A7F-A8B9-6FC4AB959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369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3904B-F0A0-451D-2558-2E4CEC3DE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153D69-005A-2295-2491-83D8E1E24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17CD3F3-12D1-C902-454A-14113AC39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041240E-A43F-F7C2-A589-9008372DB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625ACD4-A391-D142-F898-A92E223BB6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4391F52-9084-BA83-5D72-0E843F6AA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0D0C-A749-48ED-AEAD-3F7117B05D0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2347186-3DA3-742A-9441-4E9B736F6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CDF8649-624E-AE87-CD1F-B17467889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0DE3-394D-4A7F-A8B9-6FC4AB959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2474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829B37-03FB-9E2A-E40D-4AA34156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926266-6AC1-62B8-9B73-F1188D2D7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0D0C-A749-48ED-AEAD-3F7117B05D0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7E5CE63-8734-A53E-88A5-BD7A66D1B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3369B8-63ED-220A-0691-348238F35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0DE3-394D-4A7F-A8B9-6FC4AB959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8141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675EBF-B719-EC18-EBB2-DB673612B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0D0C-A749-48ED-AEAD-3F7117B05D0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12C013B-8D8D-6F90-175F-E2AB4351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7C641F-F73C-D554-14B6-000255435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0DE3-394D-4A7F-A8B9-6FC4AB959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600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3EED33-E124-07DC-095A-2DB6E1491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04A1BC-3EC2-30CF-BE45-B9016251B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DAE392-2A6A-EF87-1E16-45428CAE9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EE429D-5B76-DFB4-1526-3F3ABA312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0D0C-A749-48ED-AEAD-3F7117B05D0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52756E-5D9D-4B88-8AE6-1C51C6A94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7E94B9-DC2A-F770-AD24-1DDF6F733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0DE3-394D-4A7F-A8B9-6FC4AB959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7386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6019D-7F40-E367-2D83-50C38BBD9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D5FD254-7BFC-48E2-6F84-ED41469D2E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A602BD-856C-D07E-ACB2-5DB380AC1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E9A04D-09F2-3EE7-2C90-44763A293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0D0C-A749-48ED-AEAD-3F7117B05D0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2961EA-EB86-1744-07E6-B1AEF8AA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A3F70F-D9F1-5D52-7B64-0362621CD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0DE3-394D-4A7F-A8B9-6FC4AB959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7816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5F9D7-3D23-1509-1057-7D4C97AA9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641B15-12C4-FE10-A3AD-E5EC7FEA6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81AC99-255A-9303-12F9-0812134E5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0D0C-A749-48ED-AEAD-3F7117B05D0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2B97E8-53CE-1462-2481-D18F6FC4E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C1D98C-DE06-899D-7BC9-4458EB3E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0DE3-394D-4A7F-A8B9-6FC4AB959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006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0829FE-59FE-8ABC-68B6-B0F37EF427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5C293FA-20E2-A16B-8699-2B1687263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31D274-BADD-957A-3CDC-D79A150EE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0D0C-A749-48ED-AEAD-3F7117B05D0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8F6433-E03E-7F14-92AC-C9A17961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7851A5-C8CC-B431-0614-E949D0BF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0DE3-394D-4A7F-A8B9-6FC4AB959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72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BE7338E-D75B-7009-1D90-B3EAF8EC4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64EF5C-3278-8DB7-B86D-F64E1D54E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A32585-4AB3-64BF-03BE-45473F73B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10D0C-A749-48ED-AEAD-3F7117B05D0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B60D74-03F9-3BB8-DABE-F0D2CCC3C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F8A469-94AF-DBE1-C342-606CD1A5F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60DE3-394D-4A7F-A8B9-6FC4AB959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52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B33F1-A0EF-D967-700F-C649F9EDB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42899" y="2193125"/>
            <a:ext cx="4018084" cy="949570"/>
          </a:xfrm>
        </p:spPr>
        <p:txBody>
          <a:bodyPr>
            <a:normAutofit/>
          </a:bodyPr>
          <a:lstStyle/>
          <a:p>
            <a:r>
              <a:rPr lang="en-US" sz="2800" b="1" dirty="0" err="1">
                <a:solidFill>
                  <a:srgbClr val="2E3C4E"/>
                </a:solidFill>
                <a:latin typeface="+mn-lt"/>
                <a:ea typeface="Barlow Bold" pitchFamily="34" charset="-122"/>
                <a:cs typeface="Barlow Bold" pitchFamily="34" charset="-120"/>
              </a:rPr>
              <a:t>Linguagem</a:t>
            </a:r>
            <a:r>
              <a:rPr lang="en-US" sz="2800" b="1" dirty="0">
                <a:solidFill>
                  <a:srgbClr val="2E3C4E"/>
                </a:solidFill>
                <a:latin typeface="+mn-lt"/>
                <a:ea typeface="Barlow Bold" pitchFamily="34" charset="-122"/>
                <a:cs typeface="Barlow Bold" pitchFamily="34" charset="-120"/>
              </a:rPr>
              <a:t> C</a:t>
            </a:r>
            <a:br>
              <a:rPr lang="en-US" sz="2800" dirty="0"/>
            </a:br>
            <a:endParaRPr lang="pt-BR" sz="28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7F2097-F0B7-FFFC-C634-9F7700AE5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85" y="2971801"/>
            <a:ext cx="6024600" cy="743506"/>
          </a:xfrm>
        </p:spPr>
        <p:txBody>
          <a:bodyPr>
            <a:normAutofit/>
          </a:bodyPr>
          <a:lstStyle/>
          <a:p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das linguagens de </a:t>
            </a:r>
            <a:r>
              <a:rPr lang="en-US" sz="12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programação</a:t>
            </a: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</a:t>
            </a: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influentes</a:t>
            </a: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2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história</a:t>
            </a: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2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computação</a:t>
            </a: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</a:t>
            </a:r>
            <a:r>
              <a:rPr lang="en-US" sz="12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criada</a:t>
            </a: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</a:t>
            </a: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1972, </a:t>
            </a:r>
            <a:r>
              <a:rPr lang="en-US" sz="12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ainda</a:t>
            </a: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essencial</a:t>
            </a: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até</a:t>
            </a: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hoje</a:t>
            </a: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/>
          </a:p>
          <a:p>
            <a:endParaRPr lang="pt-BR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5903E1-0DF7-8BBB-3031-C342AC988DA8}"/>
              </a:ext>
            </a:extLst>
          </p:cNvPr>
          <p:cNvSpPr/>
          <p:nvPr/>
        </p:nvSpPr>
        <p:spPr>
          <a:xfrm>
            <a:off x="351693" y="4190090"/>
            <a:ext cx="3138407" cy="674864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9125EA-820A-5E54-0D3C-5D283CD3AD10}"/>
              </a:ext>
            </a:extLst>
          </p:cNvPr>
          <p:cNvSpPr/>
          <p:nvPr/>
        </p:nvSpPr>
        <p:spPr>
          <a:xfrm>
            <a:off x="822291" y="4417876"/>
            <a:ext cx="3138408" cy="459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HISTÓRIA DA COMPUTAÇÃO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162BA7C-7F0E-70F3-899A-695977B3B16B}"/>
              </a:ext>
            </a:extLst>
          </p:cNvPr>
          <p:cNvSpPr/>
          <p:nvPr/>
        </p:nvSpPr>
        <p:spPr>
          <a:xfrm>
            <a:off x="3777821" y="4177457"/>
            <a:ext cx="1972348" cy="700130"/>
          </a:xfrm>
          <a:prstGeom prst="roundRect">
            <a:avLst>
              <a:gd name="adj" fmla="val 61564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37131FB-5F3C-6C13-0879-1E17759B2CCE}"/>
              </a:ext>
            </a:extLst>
          </p:cNvPr>
          <p:cNvSpPr/>
          <p:nvPr/>
        </p:nvSpPr>
        <p:spPr>
          <a:xfrm>
            <a:off x="4143577" y="4405243"/>
            <a:ext cx="2493648" cy="459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PROGRAMAÇÃO</a:t>
            </a:r>
            <a:endParaRPr lang="en-US" sz="110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1CBB039F-DBD0-2D5F-8B28-961291305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433" y="-1193797"/>
            <a:ext cx="5039459" cy="867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164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C9D6D9-B34F-2EC1-2EDB-522BA6F94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084"/>
            <a:ext cx="8765628" cy="1043523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2E3C4E"/>
                </a:solidFill>
                <a:latin typeface="+mn-lt"/>
              </a:rPr>
              <a:t>História</a:t>
            </a:r>
            <a:r>
              <a:rPr lang="en-US" b="1" dirty="0">
                <a:solidFill>
                  <a:srgbClr val="2E3C4E"/>
                </a:solidFill>
                <a:latin typeface="+mn-lt"/>
              </a:rPr>
              <a:t> e </a:t>
            </a:r>
            <a:r>
              <a:rPr lang="en-US" b="1" dirty="0" err="1">
                <a:solidFill>
                  <a:srgbClr val="2E3C4E"/>
                </a:solidFill>
                <a:latin typeface="+mn-lt"/>
              </a:rPr>
              <a:t>Criadores</a:t>
            </a:r>
            <a:r>
              <a:rPr lang="en-US" b="1" dirty="0">
                <a:solidFill>
                  <a:srgbClr val="2E3C4E"/>
                </a:solidFill>
                <a:latin typeface="+mn-lt"/>
              </a:rPr>
              <a:t> da </a:t>
            </a:r>
            <a:r>
              <a:rPr lang="en-US" b="1" dirty="0" err="1">
                <a:solidFill>
                  <a:srgbClr val="2E3C4E"/>
                </a:solidFill>
                <a:latin typeface="+mn-lt"/>
              </a:rPr>
              <a:t>Linguagem</a:t>
            </a:r>
            <a:r>
              <a:rPr lang="en-US" b="1" dirty="0">
                <a:solidFill>
                  <a:srgbClr val="2E3C4E"/>
                </a:solidFill>
                <a:latin typeface="+mn-lt"/>
              </a:rPr>
              <a:t> C:</a:t>
            </a:r>
            <a:br>
              <a:rPr lang="en-US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5D47CE-8EA8-33F6-473D-375E7AC8D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55" y="858471"/>
            <a:ext cx="8500696" cy="529614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A linguagem C foi criada no início da década de 1970 por Dennis Ritchie nos laboratórios da Bell </a:t>
            </a:r>
            <a:r>
              <a:rPr lang="pt-BR" dirty="0" err="1"/>
              <a:t>Labs</a:t>
            </a:r>
            <a:r>
              <a:rPr lang="pt-BR" dirty="0"/>
              <a:t>, nos Estados Unidos. Ela surgiu como uma evolução da linguagem B, com o objetivo de desenvolver sistemas operacionais de forma mais eficiente, principalmente o sistema operacional Unix. </a:t>
            </a:r>
          </a:p>
          <a:p>
            <a:pPr marL="0" indent="0">
              <a:buNone/>
            </a:pPr>
            <a:r>
              <a:rPr lang="pt-BR" dirty="0"/>
              <a:t>Antes da criação da linguagem C, muitos programas eram escritos diretamente em linguagem de máquina ou Assembly, o que tornava o desenvolvimento mais difícil e menos portátil entre diferentes computadores. A linguagem C trouxe uma grande inovação ao permitir que programas fossem escritos de maneira mais simples, rápida e organizada, mantendo um alto desempenho.</a:t>
            </a:r>
          </a:p>
          <a:p>
            <a:pPr marL="0" indent="0">
              <a:buNone/>
            </a:pPr>
            <a:r>
              <a:rPr lang="pt-BR" dirty="0"/>
              <a:t>Com o passar dos anos, a linguagem C se tornou uma das mais importantes da história da computação, sendo utilizada no desenvolvimento de sistemas operacionais, compiladores, drivers, </a:t>
            </a:r>
            <a:r>
              <a:rPr lang="pt-BR" dirty="0" err="1"/>
              <a:t>jogose</a:t>
            </a:r>
            <a:r>
              <a:rPr lang="pt-BR" dirty="0"/>
              <a:t> softwares diversos. Além disso, várias linguagens modernas foram influenciadas por ela, como C++, Java e C#.</a:t>
            </a:r>
          </a:p>
          <a:p>
            <a:pPr marL="0" indent="0">
              <a:buNone/>
            </a:pPr>
            <a:r>
              <a:rPr lang="pt-BR" dirty="0"/>
              <a:t>Em 1989, a linguagem recebeu uma padronização oficial chamada ANSI C, criada para garantir compatibilidade entre diferentes compiladores. Até hoje, a linguagem C continua sendo muito utilizada devido à sua velocidade, eficiência e controle sobre o hardware do computador.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D1111EFF-3789-005C-D057-7330E6053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551" y="81084"/>
            <a:ext cx="3600450" cy="692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8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37500-9035-4D9C-079C-A82C59B14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0149"/>
            <a:ext cx="6995746" cy="91855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Características</a:t>
            </a:r>
            <a:r>
              <a:rPr lang="en-US" b="1" dirty="0"/>
              <a:t> Gerais:</a:t>
            </a:r>
            <a:br>
              <a:rPr lang="en-US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8E227D-9759-18C1-D2A6-8AE65DB58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2286"/>
            <a:ext cx="9246577" cy="522580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dirty="0"/>
              <a:t>A linguagem C é uma das linguagens de programação mais importantes e influentes da computação. Ela se destaca principalmente por sua velocidade, eficiência e grande controle sobre o hardware do computador. Por ser uma linguagem de médio nível, a C consegue combinar recursos próximos da máquina com uma sintaxe mais organizada e compreensível para os programadores.</a:t>
            </a:r>
          </a:p>
          <a:p>
            <a:pPr marL="0" indent="0">
              <a:buNone/>
            </a:pPr>
            <a:r>
              <a:rPr lang="pt-BR" dirty="0"/>
              <a:t>Uma das principais características da linguagem C é sua alta performance. Programas feitos em C costumam ser rápidos e consumir poucos recursos do sistema, por isso ela é muito utilizada no desenvolvimento de sistemas operacionais, drivers, jogos e softwares embarcados.</a:t>
            </a:r>
          </a:p>
          <a:p>
            <a:pPr marL="0" indent="0">
              <a:buNone/>
            </a:pPr>
            <a:r>
              <a:rPr lang="pt-BR" dirty="0"/>
              <a:t>Outra característica importante é a portabilidade. Um programa escrito em C pode ser adaptado para diferentes sistemas operacionais e computadores com poucas alterações, o que ajudou a popularizar a linguagem no mundo inteiro.</a:t>
            </a:r>
          </a:p>
          <a:p>
            <a:pPr marL="0" indent="0">
              <a:buNone/>
            </a:pPr>
            <a:r>
              <a:rPr lang="pt-BR" dirty="0"/>
              <a:t>A linguagem C também oferece grande controle de memória através do uso de ponteiros, permitindo que o programador gerencie diretamente os recursos do computador. </a:t>
            </a:r>
          </a:p>
          <a:p>
            <a:pPr marL="0" indent="0">
              <a:buNone/>
            </a:pPr>
            <a:r>
              <a:rPr lang="pt-BR" dirty="0"/>
              <a:t>Além disso, ela possui uma estrutura simples e modular, facilitando a organização do código em funções e bibliotecas.</a:t>
            </a:r>
          </a:p>
          <a:p>
            <a:pPr marL="0" indent="0">
              <a:buNone/>
            </a:pPr>
            <a:r>
              <a:rPr lang="pt-BR" dirty="0"/>
              <a:t>Por fim, a linguagem C serviu de base para diversas linguagens modernas, como C++, Java e C#, sendo considerada fundamental para o aprendizado de programação e para a evolução da tecnologia.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2413656-14A0-6812-9812-C116AFEE1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053" y="947982"/>
            <a:ext cx="3012831" cy="393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47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1C0061-5171-D738-D0CC-E93C756AC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9452" y="369278"/>
            <a:ext cx="5235526" cy="876980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2E3C4E"/>
                </a:solidFill>
                <a:latin typeface="+mn-lt"/>
                <a:ea typeface="Barlow Bold" pitchFamily="34" charset="-122"/>
                <a:cs typeface="Barlow Bold" pitchFamily="34" charset="-120"/>
              </a:rPr>
              <a:t>Exemplo</a:t>
            </a:r>
            <a:r>
              <a:rPr lang="en-US" b="1" dirty="0">
                <a:solidFill>
                  <a:srgbClr val="2E3C4E"/>
                </a:solidFill>
                <a:latin typeface="+mn-lt"/>
                <a:ea typeface="Barlow Bold" pitchFamily="34" charset="-122"/>
                <a:cs typeface="Barlow Bold" pitchFamily="34" charset="-120"/>
              </a:rPr>
              <a:t> de Código</a:t>
            </a:r>
            <a:br>
              <a:rPr lang="en-US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47FBED-9F8B-F86A-A9F7-76E09A3ACCCA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-281354" y="-91219"/>
            <a:ext cx="357777" cy="196727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7000"/>
              </a:lnSpc>
              <a:buNone/>
            </a:pPr>
            <a:r>
              <a:rPr lang="en-US" dirty="0"/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7C5995-BB4C-24C1-E5FD-653239C4FF9F}"/>
              </a:ext>
            </a:extLst>
          </p:cNvPr>
          <p:cNvSpPr txBox="1"/>
          <p:nvPr/>
        </p:nvSpPr>
        <p:spPr>
          <a:xfrm>
            <a:off x="6301887" y="1062489"/>
            <a:ext cx="3264144" cy="398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O </a:t>
            </a:r>
            <a:r>
              <a:rPr lang="en-US" sz="2000" b="1" dirty="0" err="1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que</a:t>
            </a:r>
            <a:r>
              <a:rPr lang="en-US" sz="2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000" b="1" dirty="0" err="1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este</a:t>
            </a:r>
            <a:r>
              <a:rPr lang="en-US" sz="2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000" b="1" dirty="0" err="1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código</a:t>
            </a:r>
            <a:r>
              <a:rPr lang="en-US" sz="2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000" b="1" dirty="0" err="1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faz</a:t>
            </a:r>
            <a:r>
              <a:rPr lang="en-US" sz="2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?</a:t>
            </a:r>
            <a:endParaRPr lang="en-US" sz="20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C3481F4-9A86-8CDD-9A46-25BC878B78AE}"/>
              </a:ext>
            </a:extLst>
          </p:cNvPr>
          <p:cNvSpPr/>
          <p:nvPr/>
        </p:nvSpPr>
        <p:spPr>
          <a:xfrm>
            <a:off x="6449452" y="1522162"/>
            <a:ext cx="3777823" cy="337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Declaração de variável</a:t>
            </a:r>
            <a:endParaRPr lang="en-US" sz="1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D4F580A-CFAF-7363-EA87-FBCE14CBF5C7}"/>
              </a:ext>
            </a:extLst>
          </p:cNvPr>
          <p:cNvSpPr/>
          <p:nvPr/>
        </p:nvSpPr>
        <p:spPr>
          <a:xfrm>
            <a:off x="6096000" y="1873203"/>
            <a:ext cx="5787536" cy="374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 um vetor de caracteres </a:t>
            </a:r>
            <a:r>
              <a:rPr lang="en-US" sz="14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nome[30]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armazenar a entrada do usuário.</a:t>
            </a:r>
            <a:endParaRPr lang="en-US" sz="140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08181C8D-1871-0170-2C19-6ED6203BC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409" y="2850877"/>
            <a:ext cx="3992910" cy="14288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3935CAA2-5497-EAF4-A049-990DDE6FFAF2}"/>
              </a:ext>
            </a:extLst>
          </p:cNvPr>
          <p:cNvSpPr/>
          <p:nvPr/>
        </p:nvSpPr>
        <p:spPr>
          <a:xfrm>
            <a:off x="6449452" y="2525477"/>
            <a:ext cx="161471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Leitura da entrada</a:t>
            </a:r>
            <a:endParaRPr lang="en-US" sz="1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386BA8B-72E4-7762-105E-E6D457CE9E27}"/>
              </a:ext>
            </a:extLst>
          </p:cNvPr>
          <p:cNvSpPr/>
          <p:nvPr/>
        </p:nvSpPr>
        <p:spPr>
          <a:xfrm>
            <a:off x="6096000" y="2887575"/>
            <a:ext cx="3992910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 </a:t>
            </a:r>
            <a:r>
              <a:rPr lang="en-US" sz="14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scanf()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capturar o nome digitado pelo usuário.</a:t>
            </a:r>
            <a:endParaRPr lang="en-US" sz="1400" dirty="0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81508857-8FC8-596F-1421-EA85E666E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409" y="3825999"/>
            <a:ext cx="3992910" cy="14288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65A4864E-8ADA-5E67-D236-F002AD258E01}"/>
              </a:ext>
            </a:extLst>
          </p:cNvPr>
          <p:cNvSpPr/>
          <p:nvPr/>
        </p:nvSpPr>
        <p:spPr>
          <a:xfrm>
            <a:off x="6449452" y="3264424"/>
            <a:ext cx="161471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Saída na tela</a:t>
            </a:r>
            <a:endParaRPr lang="en-US" sz="16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12AD7BF-A43C-73A3-3B10-8121A9D5A70B}"/>
              </a:ext>
            </a:extLst>
          </p:cNvPr>
          <p:cNvSpPr/>
          <p:nvPr/>
        </p:nvSpPr>
        <p:spPr>
          <a:xfrm>
            <a:off x="6096000" y="3602625"/>
            <a:ext cx="3992910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Exibe uma mensagem de boas-vindas personalizada com </a:t>
            </a:r>
            <a:r>
              <a:rPr lang="en-US" sz="14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printf()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AAA8BFC6-0DF4-D28D-8451-A0A22F14355C}"/>
              </a:ext>
            </a:extLst>
          </p:cNvPr>
          <p:cNvSpPr/>
          <p:nvPr/>
        </p:nvSpPr>
        <p:spPr>
          <a:xfrm>
            <a:off x="429444" y="1181546"/>
            <a:ext cx="3992910" cy="2116187"/>
          </a:xfrm>
          <a:prstGeom prst="roundRect">
            <a:avLst>
              <a:gd name="adj" fmla="val 8699"/>
            </a:avLst>
          </a:prstGeom>
          <a:solidFill>
            <a:srgbClr val="F2F2F2"/>
          </a:solidFill>
          <a:ln/>
        </p:spPr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6C282CDA-4DE3-BB96-DC62-C3E9A6F403CB}"/>
              </a:ext>
            </a:extLst>
          </p:cNvPr>
          <p:cNvSpPr/>
          <p:nvPr/>
        </p:nvSpPr>
        <p:spPr>
          <a:xfrm>
            <a:off x="278541" y="249416"/>
            <a:ext cx="5464008" cy="3743420"/>
          </a:xfrm>
          <a:prstGeom prst="roundRect">
            <a:avLst>
              <a:gd name="adj" fmla="val 870"/>
            </a:avLst>
          </a:prstGeom>
          <a:solidFill>
            <a:srgbClr val="F2F2F2"/>
          </a:solidFill>
          <a:ln/>
        </p:spPr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55E16483-6992-AC9C-4F5C-2AFCE9482A6A}"/>
              </a:ext>
            </a:extLst>
          </p:cNvPr>
          <p:cNvSpPr/>
          <p:nvPr/>
        </p:nvSpPr>
        <p:spPr>
          <a:xfrm>
            <a:off x="308465" y="369278"/>
            <a:ext cx="5301028" cy="35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200" dirty="0"/>
          </a:p>
          <a:p>
            <a:pPr marL="0" indent="0" algn="l">
              <a:lnSpc>
                <a:spcPct val="127000"/>
              </a:lnSpc>
              <a:buNone/>
            </a:pPr>
            <a:endParaRPr lang="en-US" sz="12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2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nome[30];</a:t>
            </a:r>
            <a:endParaRPr lang="en-US" sz="1200" dirty="0"/>
          </a:p>
          <a:p>
            <a:pPr marL="0" indent="0" algn="l">
              <a:lnSpc>
                <a:spcPct val="127000"/>
              </a:lnSpc>
              <a:buNone/>
            </a:pPr>
            <a:endParaRPr lang="en-US" sz="12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printf("Digite seu nome: ");</a:t>
            </a:r>
            <a:endParaRPr lang="en-US" sz="12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scanf("%s", nome);</a:t>
            </a:r>
            <a:endParaRPr lang="en-US" sz="12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printf("Olá, %s! Bem-vindo à linguagem C.\n", nome);</a:t>
            </a:r>
            <a:endParaRPr lang="en-US" sz="12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3D111031-39C0-EAA7-203D-4BE7FB0C1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453" y="2887575"/>
            <a:ext cx="5464008" cy="533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82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C3A681-E1E9-2E9F-07ED-19D28D087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62" y="333594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2E3C4E"/>
                </a:solidFill>
                <a:latin typeface="+mn-lt"/>
                <a:ea typeface="Barlow Bold" pitchFamily="34" charset="-122"/>
                <a:cs typeface="Barlow Bold" pitchFamily="34" charset="-120"/>
              </a:rPr>
              <a:t>Areas de </a:t>
            </a:r>
            <a:r>
              <a:rPr lang="en-US" b="1" dirty="0" err="1">
                <a:solidFill>
                  <a:srgbClr val="2E3C4E"/>
                </a:solidFill>
                <a:latin typeface="+mn-lt"/>
                <a:ea typeface="Barlow Bold" pitchFamily="34" charset="-122"/>
                <a:cs typeface="Barlow Bold" pitchFamily="34" charset="-120"/>
              </a:rPr>
              <a:t>Aplicação</a:t>
            </a:r>
            <a:r>
              <a:rPr lang="en-US" b="1" dirty="0">
                <a:solidFill>
                  <a:srgbClr val="2E3C4E"/>
                </a:solidFill>
                <a:latin typeface="+mn-lt"/>
                <a:ea typeface="Barlow Bold" pitchFamily="34" charset="-122"/>
                <a:cs typeface="Barlow Bold" pitchFamily="34" charset="-120"/>
              </a:rPr>
              <a:t>:</a:t>
            </a:r>
            <a:endParaRPr lang="pt-BR" dirty="0">
              <a:latin typeface="+mn-l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B542A3-D46F-89ED-0AD3-888FFB215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62" y="1494692"/>
            <a:ext cx="11720146" cy="4751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1- Desenvolvimento de sistemas operacionais, como o Unix e partes do Linux.</a:t>
            </a:r>
          </a:p>
          <a:p>
            <a:pPr marL="0" indent="0">
              <a:buNone/>
            </a:pPr>
            <a:r>
              <a:rPr lang="pt-BR" dirty="0"/>
              <a:t>2- Criação de drivers e softwares que controlam hardware.</a:t>
            </a:r>
          </a:p>
          <a:p>
            <a:pPr marL="0" indent="0">
              <a:buNone/>
            </a:pPr>
            <a:r>
              <a:rPr lang="pt-BR" dirty="0"/>
              <a:t>3- Desenvolvimento de sistemas embarcados, como micro-ondas, carros e roteadores.</a:t>
            </a:r>
          </a:p>
          <a:p>
            <a:pPr marL="0" indent="0">
              <a:buNone/>
            </a:pPr>
            <a:r>
              <a:rPr lang="pt-BR" dirty="0"/>
              <a:t>4- Produção de jogos e motores gráficos.</a:t>
            </a:r>
          </a:p>
          <a:p>
            <a:pPr marL="0" indent="0">
              <a:buNone/>
            </a:pPr>
            <a:r>
              <a:rPr lang="pt-BR" dirty="0"/>
              <a:t>5- Desenvolvimento de compiladores e interpretadores.</a:t>
            </a:r>
          </a:p>
          <a:p>
            <a:pPr marL="0" indent="0">
              <a:buNone/>
            </a:pPr>
            <a:r>
              <a:rPr lang="pt-BR" dirty="0"/>
              <a:t>6- Programas de alto desempenho e softwares científicos.</a:t>
            </a:r>
          </a:p>
          <a:p>
            <a:pPr marL="0" indent="0">
              <a:buNone/>
            </a:pPr>
            <a:r>
              <a:rPr lang="pt-BR" dirty="0"/>
              <a:t>7- Aplicações de redes e servidores.</a:t>
            </a:r>
          </a:p>
          <a:p>
            <a:pPr marL="0" indent="0">
              <a:buNone/>
            </a:pPr>
            <a:r>
              <a:rPr lang="pt-BR" dirty="0"/>
              <a:t>8- Desenvolvimento de bancos de dados e ferramentas do sistema.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7483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2C2443-AD51-320F-AD30-F2FA17CEC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41" y="316903"/>
            <a:ext cx="10515600" cy="1325563"/>
          </a:xfrm>
        </p:spPr>
        <p:txBody>
          <a:bodyPr/>
          <a:lstStyle/>
          <a:p>
            <a:r>
              <a:rPr lang="pt-BR" b="1" dirty="0"/>
              <a:t>Vantagens e Desvantagens: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CD0827-668E-3130-F8EA-05630F7A2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02" y="118871"/>
            <a:ext cx="45719" cy="18224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pt-BR" dirty="0"/>
              <a:t>.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66E4DDA-7581-076F-F1B5-56B85CFD4296}"/>
              </a:ext>
            </a:extLst>
          </p:cNvPr>
          <p:cNvSpPr/>
          <p:nvPr/>
        </p:nvSpPr>
        <p:spPr>
          <a:xfrm>
            <a:off x="346841" y="1642466"/>
            <a:ext cx="4197487" cy="3181782"/>
          </a:xfrm>
          <a:prstGeom prst="roundRect">
            <a:avLst>
              <a:gd name="adj" fmla="val 13141"/>
            </a:avLst>
          </a:prstGeom>
          <a:solidFill>
            <a:srgbClr val="2589C9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220DB48-976E-C95C-76EE-FEEC6059878C}"/>
              </a:ext>
            </a:extLst>
          </p:cNvPr>
          <p:cNvSpPr/>
          <p:nvPr/>
        </p:nvSpPr>
        <p:spPr>
          <a:xfrm>
            <a:off x="532125" y="1852200"/>
            <a:ext cx="223889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✅ </a:t>
            </a:r>
            <a:r>
              <a:rPr lang="en-US" b="1" dirty="0" err="1">
                <a:solidFill>
                  <a:srgbClr val="000000"/>
                </a:solidFill>
                <a:ea typeface="Barlow Bold" pitchFamily="34" charset="-122"/>
                <a:cs typeface="Barlow Bold" pitchFamily="34" charset="-120"/>
              </a:rPr>
              <a:t>Vantagens</a:t>
            </a:r>
            <a:endParaRPr 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3D068AB-4E86-A082-808B-F3B6D768D7A5}"/>
              </a:ext>
            </a:extLst>
          </p:cNvPr>
          <p:cNvSpPr/>
          <p:nvPr/>
        </p:nvSpPr>
        <p:spPr>
          <a:xfrm>
            <a:off x="532125" y="2165168"/>
            <a:ext cx="3857253" cy="1753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 velocidade e desempenho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Grande controle sobre memória e hardware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Linguagem portátil entre sistemas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Ampla utilização em sistemas críticos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sólida para aprender outras linguagens</a:t>
            </a:r>
            <a:endParaRPr lang="en-US" sz="14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Grande quantidade de bibliotecas e comunidade ativa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DDC5AA8-6BD3-6C81-A1E4-D7D944121FC0}"/>
              </a:ext>
            </a:extLst>
          </p:cNvPr>
          <p:cNvSpPr/>
          <p:nvPr/>
        </p:nvSpPr>
        <p:spPr>
          <a:xfrm>
            <a:off x="5077652" y="1852200"/>
            <a:ext cx="223889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⚠️</a:t>
            </a:r>
            <a:r>
              <a:rPr lang="en-US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b="1" dirty="0" err="1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Desvantagens</a:t>
            </a:r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E047451-81E6-E446-FBAA-1000989A4DC5}"/>
              </a:ext>
            </a:extLst>
          </p:cNvPr>
          <p:cNvSpPr/>
          <p:nvPr/>
        </p:nvSpPr>
        <p:spPr>
          <a:xfrm>
            <a:off x="5077652" y="2312000"/>
            <a:ext cx="3932858" cy="1922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Gerenciamento manual de memória pode causar erros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Sintaxe considerada difícil para iniciantes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Ausência de recursos modernos como orientação a objetos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Pequenos erros podem gerar falhas graves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Desenvolvimento mais demorado comparado a linguagens modernas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55851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8900C-B74A-2612-6A03-51A4A343A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935"/>
            <a:ext cx="6302829" cy="928409"/>
          </a:xfrm>
        </p:spPr>
        <p:txBody>
          <a:bodyPr/>
          <a:lstStyle/>
          <a:p>
            <a:r>
              <a:rPr lang="pt-BR" b="1" dirty="0"/>
              <a:t>Empresas que utilizam C: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FC547B-E2F7-F5D8-6432-D64D03D0C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8864" y="7700329"/>
            <a:ext cx="10515600" cy="4351338"/>
          </a:xfrm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026A51A-63F1-BC51-2F38-6ACE5E167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693" y="3181145"/>
            <a:ext cx="1852878" cy="1145148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1CB3C968-2B0F-F6F2-B7CA-88FC41D3C8D3}"/>
              </a:ext>
            </a:extLst>
          </p:cNvPr>
          <p:cNvSpPr/>
          <p:nvPr/>
        </p:nvSpPr>
        <p:spPr>
          <a:xfrm>
            <a:off x="4447655" y="447554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2CC6DA4-5126-9F12-6EB1-81CB83294D4F}"/>
              </a:ext>
            </a:extLst>
          </p:cNvPr>
          <p:cNvSpPr/>
          <p:nvPr/>
        </p:nvSpPr>
        <p:spPr>
          <a:xfrm>
            <a:off x="3501255" y="4766222"/>
            <a:ext cx="2937049" cy="1425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 C no desenvolvimento do Windows e ferramentas do sistema.</a:t>
            </a:r>
            <a:endParaRPr lang="en-US" sz="16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83AEFF28-6E8D-EC78-5EC6-35CDDF059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77" y="857587"/>
            <a:ext cx="1865460" cy="1152924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27F28CB1-6DCE-BF80-3BCA-32BB06105408}"/>
              </a:ext>
            </a:extLst>
          </p:cNvPr>
          <p:cNvSpPr/>
          <p:nvPr/>
        </p:nvSpPr>
        <p:spPr>
          <a:xfrm>
            <a:off x="1145115" y="2077741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Apple</a:t>
            </a:r>
            <a:endParaRPr lang="en-US" sz="16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3714856-6100-B802-8602-F9E5CA782C06}"/>
              </a:ext>
            </a:extLst>
          </p:cNvPr>
          <p:cNvSpPr/>
          <p:nvPr/>
        </p:nvSpPr>
        <p:spPr>
          <a:xfrm>
            <a:off x="442460" y="2416684"/>
            <a:ext cx="2091333" cy="92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Utiliza C em partes do macOS e do iOS.</a:t>
            </a:r>
            <a:endParaRPr lang="en-US" sz="160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ED7349AF-840E-B2E9-B214-9C8DB518C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681" y="826365"/>
            <a:ext cx="1610396" cy="995285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0F3E1F08-98DD-4EA9-C4C7-438F8FD034FD}"/>
              </a:ext>
            </a:extLst>
          </p:cNvPr>
          <p:cNvSpPr/>
          <p:nvPr/>
        </p:nvSpPr>
        <p:spPr>
          <a:xfrm>
            <a:off x="4388197" y="190183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Google</a:t>
            </a:r>
            <a:endParaRPr lang="en-US" sz="16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6BAF14C8-12D0-7B2E-3F94-20A40838772C}"/>
              </a:ext>
            </a:extLst>
          </p:cNvPr>
          <p:cNvSpPr/>
          <p:nvPr/>
        </p:nvSpPr>
        <p:spPr>
          <a:xfrm>
            <a:off x="3467863" y="2159780"/>
            <a:ext cx="3156612" cy="1098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Emprega C em sistemas de baixo nível e projetos de alto desempenho.</a:t>
            </a:r>
            <a:endParaRPr lang="en-US" sz="160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01FD2D24-393E-20FA-D544-AB849A4B7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8645" y="811063"/>
            <a:ext cx="1552090" cy="959249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91035831-A4D3-BB54-B470-CC11EF7735B3}"/>
              </a:ext>
            </a:extLst>
          </p:cNvPr>
          <p:cNvSpPr/>
          <p:nvPr/>
        </p:nvSpPr>
        <p:spPr>
          <a:xfrm>
            <a:off x="8225777" y="1907321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NASA</a:t>
            </a:r>
            <a:endParaRPr lang="en-US" sz="16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D00FBB1C-4E30-37CA-838C-858480C5CE2B}"/>
              </a:ext>
            </a:extLst>
          </p:cNvPr>
          <p:cNvSpPr/>
          <p:nvPr/>
        </p:nvSpPr>
        <p:spPr>
          <a:xfrm>
            <a:off x="7199953" y="2194074"/>
            <a:ext cx="3766494" cy="689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Utiliza C em sistemas embarcados e softwares espaciais.</a:t>
            </a:r>
            <a:endParaRPr lang="en-US" sz="1600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7DD34761-F01F-4CF0-66E8-F76F9D66D0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362" y="3082987"/>
            <a:ext cx="2011701" cy="1243306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AE2D0EA6-BF7E-85C4-D2D0-8D0E81EDC320}"/>
              </a:ext>
            </a:extLst>
          </p:cNvPr>
          <p:cNvSpPr/>
          <p:nvPr/>
        </p:nvSpPr>
        <p:spPr>
          <a:xfrm>
            <a:off x="1145115" y="447554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Intel</a:t>
            </a:r>
            <a:endParaRPr lang="en-US" sz="16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2B15E36-112D-A690-F6E3-531F32FE4202}"/>
              </a:ext>
            </a:extLst>
          </p:cNvPr>
          <p:cNvSpPr/>
          <p:nvPr/>
        </p:nvSpPr>
        <p:spPr>
          <a:xfrm>
            <a:off x="442460" y="4757889"/>
            <a:ext cx="2546843" cy="1572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 C no desenvolvimento de drivers e softwares para hardware.</a:t>
            </a:r>
            <a:endParaRPr lang="en-US" sz="1600" dirty="0"/>
          </a:p>
        </p:txBody>
      </p:sp>
      <p:pic>
        <p:nvPicPr>
          <p:cNvPr id="19" name="Image 5" descr="preencoded.png">
            <a:extLst>
              <a:ext uri="{FF2B5EF4-FFF2-40B4-BE49-F238E27FC236}">
                <a16:creationId xmlns:a16="http://schemas.microsoft.com/office/drawing/2014/main" id="{E3DC8E97-E595-48EA-8096-104FAAF22C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061" y="3114793"/>
            <a:ext cx="2303347" cy="1423555"/>
          </a:xfrm>
          <a:prstGeom prst="rect">
            <a:avLst/>
          </a:prstGeom>
        </p:spPr>
      </p:pic>
      <p:sp>
        <p:nvSpPr>
          <p:cNvPr id="20" name="Text 11">
            <a:extLst>
              <a:ext uri="{FF2B5EF4-FFF2-40B4-BE49-F238E27FC236}">
                <a16:creationId xmlns:a16="http://schemas.microsoft.com/office/drawing/2014/main" id="{355B1ACC-F735-1917-FDE6-86573912BCE7}"/>
              </a:ext>
            </a:extLst>
          </p:cNvPr>
          <p:cNvSpPr/>
          <p:nvPr/>
        </p:nvSpPr>
        <p:spPr>
          <a:xfrm>
            <a:off x="8731428" y="4535242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Oracle &amp; Cisco</a:t>
            </a:r>
            <a:endParaRPr lang="en-US" sz="16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AB69A33B-B8EE-23AB-3714-882D95E9BCBF}"/>
              </a:ext>
            </a:extLst>
          </p:cNvPr>
          <p:cNvSpPr/>
          <p:nvPr/>
        </p:nvSpPr>
        <p:spPr>
          <a:xfrm>
            <a:off x="8148772" y="4757889"/>
            <a:ext cx="2463924" cy="1572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Oracle usa C em bancos de dados; Cisco em roteadores e redes.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71444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C4C75-0FC6-74FC-72F3-BEECCBD26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60321" cy="900339"/>
          </a:xfrm>
        </p:spPr>
        <p:txBody>
          <a:bodyPr/>
          <a:lstStyle/>
          <a:p>
            <a:r>
              <a:rPr lang="pt-BR" b="1" dirty="0"/>
              <a:t>Curiosidades: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01AA06-B6C2-6C86-CE7E-186269AD8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5818"/>
            <a:ext cx="10515600" cy="4351338"/>
          </a:xfrm>
        </p:spPr>
        <p:txBody>
          <a:bodyPr>
            <a:normAutofit/>
          </a:bodyPr>
          <a:lstStyle/>
          <a:p>
            <a:r>
              <a:rPr lang="pt-BR" sz="2000" dirty="0"/>
              <a:t>A linguagem C foi criada por Dennis Ritchie em 1972 nos laboratórios da Bell </a:t>
            </a:r>
            <a:r>
              <a:rPr lang="pt-BR" sz="2000" dirty="0" err="1"/>
              <a:t>Labs</a:t>
            </a:r>
            <a:r>
              <a:rPr lang="pt-BR" sz="2000" dirty="0"/>
              <a:t>.</a:t>
            </a:r>
          </a:p>
          <a:p>
            <a:r>
              <a:rPr lang="pt-BR" sz="2000" dirty="0"/>
              <a:t>O nome “C” surgiu porque ela foi criada como evolução da linguagem B.</a:t>
            </a:r>
          </a:p>
          <a:p>
            <a:r>
              <a:rPr lang="pt-BR" sz="2000" dirty="0"/>
              <a:t>Grande parte do sistema operacional Unix foi reescrita em C, ajudando na popularização da linguagem.</a:t>
            </a:r>
          </a:p>
          <a:p>
            <a:r>
              <a:rPr lang="pt-BR" sz="2000" dirty="0"/>
              <a:t>Muitas linguagens modernas foram inspiradas nela, como C++, Java e C#.</a:t>
            </a:r>
          </a:p>
          <a:p>
            <a:r>
              <a:rPr lang="pt-BR" sz="2000" dirty="0"/>
              <a:t>A linguagem C ainda é muito usada hoje em sistemas operacionais, jogos, robótica e dispositivos eletrônicos.</a:t>
            </a:r>
          </a:p>
          <a:p>
            <a:r>
              <a:rPr lang="pt-BR" sz="2000" dirty="0"/>
              <a:t>Ela é considerada uma das linguagens mais importantes da história da computação.</a:t>
            </a:r>
          </a:p>
          <a:p>
            <a:r>
              <a:rPr lang="pt-BR" sz="2000" dirty="0"/>
              <a:t>O livro “The C </a:t>
            </a:r>
            <a:r>
              <a:rPr lang="pt-BR" sz="2000" dirty="0" err="1"/>
              <a:t>Programming</a:t>
            </a:r>
            <a:r>
              <a:rPr lang="pt-BR" sz="2000" dirty="0"/>
              <a:t> </a:t>
            </a:r>
            <a:r>
              <a:rPr lang="pt-BR" sz="2000" dirty="0" err="1"/>
              <a:t>Language</a:t>
            </a:r>
            <a:r>
              <a:rPr lang="pt-BR" sz="2000" dirty="0"/>
              <a:t>”, escrito por Dennis Ritchie e Brian </a:t>
            </a:r>
            <a:r>
              <a:rPr lang="pt-BR" sz="2000" dirty="0" err="1"/>
              <a:t>Kernighan</a:t>
            </a:r>
            <a:r>
              <a:rPr lang="pt-BR" sz="2000" dirty="0"/>
              <a:t>, ficou conhecido como a principal referência da linguagem.</a:t>
            </a:r>
          </a:p>
        </p:txBody>
      </p:sp>
    </p:spTree>
    <p:extLst>
      <p:ext uri="{BB962C8B-B14F-4D97-AF65-F5344CB8AC3E}">
        <p14:creationId xmlns:p14="http://schemas.microsoft.com/office/powerpoint/2010/main" val="3262437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50525-01D7-2FC7-3A95-103315B45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38" y="1499403"/>
            <a:ext cx="10515600" cy="66572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E3C4E"/>
                </a:solidFill>
                <a:latin typeface="+mn-lt"/>
                <a:ea typeface="Barlow Bold" pitchFamily="34" charset="-122"/>
                <a:cs typeface="Barlow Bold" pitchFamily="34" charset="-120"/>
              </a:rPr>
              <a:t>Fontes e </a:t>
            </a:r>
            <a:r>
              <a:rPr lang="en-US" b="1" dirty="0" err="1">
                <a:solidFill>
                  <a:srgbClr val="2E3C4E"/>
                </a:solidFill>
                <a:latin typeface="+mn-lt"/>
                <a:ea typeface="Barlow Bold" pitchFamily="34" charset="-122"/>
                <a:cs typeface="Barlow Bold" pitchFamily="34" charset="-120"/>
              </a:rPr>
              <a:t>Referências</a:t>
            </a:r>
            <a:r>
              <a:rPr lang="en-US" b="1" dirty="0">
                <a:solidFill>
                  <a:srgbClr val="2E3C4E"/>
                </a:solidFill>
                <a:latin typeface="+mn-lt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b="1" dirty="0" err="1">
                <a:solidFill>
                  <a:srgbClr val="2E3C4E"/>
                </a:solidFill>
                <a:latin typeface="+mn-lt"/>
                <a:ea typeface="Barlow Bold" pitchFamily="34" charset="-122"/>
                <a:cs typeface="Barlow Bold" pitchFamily="34" charset="-120"/>
              </a:rPr>
              <a:t>Utilizadas</a:t>
            </a:r>
            <a:r>
              <a:rPr lang="en-US" b="1" dirty="0">
                <a:solidFill>
                  <a:srgbClr val="2E3C4E"/>
                </a:solidFill>
                <a:latin typeface="+mn-lt"/>
                <a:ea typeface="Barlow Bold" pitchFamily="34" charset="-122"/>
                <a:cs typeface="Barlow Bold" pitchFamily="34" charset="-120"/>
              </a:rPr>
              <a:t>:</a:t>
            </a:r>
            <a:br>
              <a:rPr lang="en-US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35649-E2A4-CC81-327B-206D5E4B0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14" y="1931586"/>
            <a:ext cx="84083" cy="5487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pt-BR" dirty="0"/>
              <a:t>.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E9A522E-62AD-3333-8A74-8A340B23AF66}"/>
              </a:ext>
            </a:extLst>
          </p:cNvPr>
          <p:cNvSpPr/>
          <p:nvPr/>
        </p:nvSpPr>
        <p:spPr>
          <a:xfrm>
            <a:off x="806946" y="854199"/>
            <a:ext cx="1821359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B0BF60C-D123-DE14-4E87-9D40B687D0AA}"/>
              </a:ext>
            </a:extLst>
          </p:cNvPr>
          <p:cNvSpPr/>
          <p:nvPr/>
        </p:nvSpPr>
        <p:spPr>
          <a:xfrm>
            <a:off x="596738" y="2267717"/>
            <a:ext cx="6655397" cy="3667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Bell Labs Wikipedia — Linguagem C</a:t>
            </a:r>
            <a:endParaRPr lang="en-US" sz="14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IBM — C Programming Language</a:t>
            </a:r>
            <a:endParaRPr lang="en-US" sz="14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GeeksforGeeks — C Language Introduction</a:t>
            </a:r>
            <a:endParaRPr lang="en-US" sz="14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Programiz — C Programming Tutorial</a:t>
            </a:r>
            <a:endParaRPr lang="en-US" sz="14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TutorialsPoint — C Programming</a:t>
            </a:r>
            <a:endParaRPr lang="en-US" sz="14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Britannica — C Programming Language</a:t>
            </a:r>
            <a:endParaRPr lang="en-US" sz="14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GeeksforGeeks — Uses of C Language</a:t>
            </a:r>
            <a:endParaRPr lang="en-US" sz="14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GeeksforGeeks — Advantages and Disadvantages of C</a:t>
            </a:r>
            <a:endParaRPr lang="en-US" sz="14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GeeksforGeeks — Applications of C Language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55488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6994D-7A9A-A94E-9CE1-54C73E1B8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 flipV="1">
            <a:off x="12965088" y="5487521"/>
            <a:ext cx="5559972" cy="1062680"/>
          </a:xfrm>
        </p:spPr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B745D4-D5D8-2AF5-7AEF-F60936972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73076" y="108005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1B85449-D93A-FB5D-E091-639E215ECA58}"/>
              </a:ext>
            </a:extLst>
          </p:cNvPr>
          <p:cNvSpPr/>
          <p:nvPr/>
        </p:nvSpPr>
        <p:spPr>
          <a:xfrm>
            <a:off x="630372" y="233734"/>
            <a:ext cx="3185517" cy="340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1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D928A3C-3D29-877B-2C41-D08FFB0025FD}"/>
              </a:ext>
            </a:extLst>
          </p:cNvPr>
          <p:cNvSpPr/>
          <p:nvPr/>
        </p:nvSpPr>
        <p:spPr>
          <a:xfrm>
            <a:off x="4794274" y="-7442"/>
            <a:ext cx="1821359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2454BF7C-2625-0C0E-F30F-D457F810E6F6}"/>
              </a:ext>
            </a:extLst>
          </p:cNvPr>
          <p:cNvSpPr/>
          <p:nvPr/>
        </p:nvSpPr>
        <p:spPr>
          <a:xfrm>
            <a:off x="3596858" y="-9252"/>
            <a:ext cx="8481519" cy="6746383"/>
          </a:xfrm>
          <a:prstGeom prst="roundRect">
            <a:avLst>
              <a:gd name="adj" fmla="val 429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A50D736-6249-8CD1-F2D2-E589852493AE}"/>
              </a:ext>
            </a:extLst>
          </p:cNvPr>
          <p:cNvSpPr/>
          <p:nvPr/>
        </p:nvSpPr>
        <p:spPr>
          <a:xfrm>
            <a:off x="4037143" y="249783"/>
            <a:ext cx="747299" cy="34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 err="1"/>
              <a:t>Tarefa</a:t>
            </a:r>
            <a:endParaRPr lang="en-US" sz="1600" b="1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E270A87-7AE8-AD2A-77D3-F3A564E38AA8}"/>
              </a:ext>
            </a:extLst>
          </p:cNvPr>
          <p:cNvSpPr/>
          <p:nvPr/>
        </p:nvSpPr>
        <p:spPr>
          <a:xfrm>
            <a:off x="5314109" y="224083"/>
            <a:ext cx="1616594" cy="366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 err="1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Responsáve</a:t>
            </a:r>
            <a:r>
              <a:rPr lang="en-US" sz="1400" b="1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</a:t>
            </a:r>
            <a:endParaRPr lang="en-US" sz="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719D532-FA19-9204-431F-52BAF417D30E}"/>
              </a:ext>
            </a:extLst>
          </p:cNvPr>
          <p:cNvSpPr/>
          <p:nvPr/>
        </p:nvSpPr>
        <p:spPr>
          <a:xfrm>
            <a:off x="7384800" y="260614"/>
            <a:ext cx="452817" cy="277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b="1" dirty="0" err="1"/>
              <a:t>Prazo</a:t>
            </a:r>
            <a:endParaRPr lang="en-US" sz="1400" b="1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921DD3D-C8FB-4A73-7F2D-67942D710DD4}"/>
              </a:ext>
            </a:extLst>
          </p:cNvPr>
          <p:cNvSpPr/>
          <p:nvPr/>
        </p:nvSpPr>
        <p:spPr>
          <a:xfrm>
            <a:off x="9052638" y="244718"/>
            <a:ext cx="703992" cy="22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b="1" dirty="0"/>
              <a:t>Status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C6E1E01-6835-44B4-BDA6-4543BE5558DB}"/>
              </a:ext>
            </a:extLst>
          </p:cNvPr>
          <p:cNvSpPr/>
          <p:nvPr/>
        </p:nvSpPr>
        <p:spPr>
          <a:xfrm>
            <a:off x="10592902" y="233734"/>
            <a:ext cx="819117" cy="34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b="1" dirty="0" err="1"/>
              <a:t>Conclusão</a:t>
            </a:r>
            <a:endParaRPr lang="en-US" sz="1400" b="1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F103E8C-FE89-61D4-7D2F-59B95FB094A4}"/>
              </a:ext>
            </a:extLst>
          </p:cNvPr>
          <p:cNvSpPr/>
          <p:nvPr/>
        </p:nvSpPr>
        <p:spPr>
          <a:xfrm>
            <a:off x="3782870" y="742358"/>
            <a:ext cx="1473789" cy="5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História da linguagem C</a:t>
            </a:r>
            <a:endParaRPr lang="en-US" sz="14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3089AF2-DA0A-4259-EB93-C41DFD36FC64}"/>
              </a:ext>
            </a:extLst>
          </p:cNvPr>
          <p:cNvSpPr/>
          <p:nvPr/>
        </p:nvSpPr>
        <p:spPr>
          <a:xfrm>
            <a:off x="5419134" y="760913"/>
            <a:ext cx="1215934" cy="451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Francisco Gondim</a:t>
            </a:r>
            <a:endParaRPr lang="en-US" sz="14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632F30B4-9AB9-3FEA-6BB2-F8C09466F31C}"/>
              </a:ext>
            </a:extLst>
          </p:cNvPr>
          <p:cNvSpPr/>
          <p:nvPr/>
        </p:nvSpPr>
        <p:spPr>
          <a:xfrm>
            <a:off x="7108296" y="796221"/>
            <a:ext cx="1192411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28/05/2026</a:t>
            </a:r>
            <a:endParaRPr lang="en-US" sz="14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156C4C4-911D-B978-6DF9-2E82B57BE058}"/>
              </a:ext>
            </a:extLst>
          </p:cNvPr>
          <p:cNvSpPr/>
          <p:nvPr/>
        </p:nvSpPr>
        <p:spPr>
          <a:xfrm>
            <a:off x="8929988" y="791560"/>
            <a:ext cx="1307306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Concluído</a:t>
            </a:r>
            <a:endParaRPr lang="en-US" sz="14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EA6AABE-F23E-E9F8-4F21-0FD0A0277D9A}"/>
              </a:ext>
            </a:extLst>
          </p:cNvPr>
          <p:cNvSpPr/>
          <p:nvPr/>
        </p:nvSpPr>
        <p:spPr>
          <a:xfrm>
            <a:off x="10454068" y="1578588"/>
            <a:ext cx="1226615" cy="263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22/05/2026</a:t>
            </a:r>
            <a:endParaRPr lang="en-US" sz="14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FDA1690-4B43-38B2-FCED-9230D7768FCC}"/>
              </a:ext>
            </a:extLst>
          </p:cNvPr>
          <p:cNvSpPr/>
          <p:nvPr/>
        </p:nvSpPr>
        <p:spPr>
          <a:xfrm>
            <a:off x="3815889" y="1404627"/>
            <a:ext cx="1347359" cy="653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Criadores da linguagem C</a:t>
            </a:r>
            <a:endParaRPr lang="en-US" sz="14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7718246-127B-75A9-8333-8F600806F4FE}"/>
              </a:ext>
            </a:extLst>
          </p:cNvPr>
          <p:cNvSpPr/>
          <p:nvPr/>
        </p:nvSpPr>
        <p:spPr>
          <a:xfrm>
            <a:off x="5411211" y="1411718"/>
            <a:ext cx="1207170" cy="59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Francisco Gondim</a:t>
            </a:r>
            <a:endParaRPr lang="en-US" sz="14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FB92C5EA-905A-190C-849A-E40E3B8ADCA0}"/>
              </a:ext>
            </a:extLst>
          </p:cNvPr>
          <p:cNvSpPr/>
          <p:nvPr/>
        </p:nvSpPr>
        <p:spPr>
          <a:xfrm>
            <a:off x="7108296" y="1560835"/>
            <a:ext cx="1192411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28/05/2026</a:t>
            </a:r>
            <a:endParaRPr lang="en-US" sz="14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1B424C3B-CA82-3F8F-3449-0ED433FAA17F}"/>
              </a:ext>
            </a:extLst>
          </p:cNvPr>
          <p:cNvSpPr/>
          <p:nvPr/>
        </p:nvSpPr>
        <p:spPr>
          <a:xfrm>
            <a:off x="8882236" y="1588757"/>
            <a:ext cx="1307306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Concluído</a:t>
            </a:r>
            <a:endParaRPr lang="en-US" sz="14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BE7F04A9-9A61-D453-EBA1-80EEAB6D538D}"/>
              </a:ext>
            </a:extLst>
          </p:cNvPr>
          <p:cNvSpPr/>
          <p:nvPr/>
        </p:nvSpPr>
        <p:spPr>
          <a:xfrm>
            <a:off x="10459407" y="823645"/>
            <a:ext cx="1215935" cy="219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22/05/2026</a:t>
            </a:r>
            <a:endParaRPr lang="en-US" sz="14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6B1419AD-8A6B-0076-C58D-366CE63DB3C2}"/>
              </a:ext>
            </a:extLst>
          </p:cNvPr>
          <p:cNvSpPr/>
          <p:nvPr/>
        </p:nvSpPr>
        <p:spPr>
          <a:xfrm>
            <a:off x="3728924" y="2122014"/>
            <a:ext cx="1307306" cy="653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características</a:t>
            </a:r>
            <a:endParaRPr lang="en-US" sz="14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703000B7-B0CC-B865-C87F-E7A9F0ED8113}"/>
              </a:ext>
            </a:extLst>
          </p:cNvPr>
          <p:cNvSpPr/>
          <p:nvPr/>
        </p:nvSpPr>
        <p:spPr>
          <a:xfrm>
            <a:off x="5426555" y="2147219"/>
            <a:ext cx="1013939" cy="58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Pedro Nicholas</a:t>
            </a:r>
            <a:endParaRPr lang="en-US" sz="14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3B08163A-DD3B-E6E8-D028-63971A6F8BD4}"/>
              </a:ext>
            </a:extLst>
          </p:cNvPr>
          <p:cNvSpPr/>
          <p:nvPr/>
        </p:nvSpPr>
        <p:spPr>
          <a:xfrm>
            <a:off x="7138534" y="2293566"/>
            <a:ext cx="1192411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28/05/2026</a:t>
            </a:r>
            <a:endParaRPr lang="en-US" sz="14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4DCDC3F5-83FA-572A-18D1-D326FF7AD64D}"/>
              </a:ext>
            </a:extLst>
          </p:cNvPr>
          <p:cNvSpPr/>
          <p:nvPr/>
        </p:nvSpPr>
        <p:spPr>
          <a:xfrm>
            <a:off x="8940303" y="2274213"/>
            <a:ext cx="1307306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Concluído</a:t>
            </a:r>
            <a:endParaRPr lang="en-US" sz="140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C14CAFFF-12B9-CE7A-67E3-64A11E53B7F0}"/>
              </a:ext>
            </a:extLst>
          </p:cNvPr>
          <p:cNvSpPr/>
          <p:nvPr/>
        </p:nvSpPr>
        <p:spPr>
          <a:xfrm>
            <a:off x="10476798" y="3057419"/>
            <a:ext cx="1395507" cy="25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23/05/2026</a:t>
            </a:r>
            <a:endParaRPr lang="en-US" sz="14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5E142F34-94AE-E3E2-15CE-50408E975B81}"/>
              </a:ext>
            </a:extLst>
          </p:cNvPr>
          <p:cNvSpPr/>
          <p:nvPr/>
        </p:nvSpPr>
        <p:spPr>
          <a:xfrm>
            <a:off x="3622603" y="2905695"/>
            <a:ext cx="1691506" cy="42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Exemplos de código</a:t>
            </a:r>
            <a:endParaRPr lang="en-US" sz="14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CF4C55E2-9F8C-9E9B-1290-36B44EAA3D7B}"/>
              </a:ext>
            </a:extLst>
          </p:cNvPr>
          <p:cNvSpPr/>
          <p:nvPr/>
        </p:nvSpPr>
        <p:spPr>
          <a:xfrm>
            <a:off x="5541233" y="2841954"/>
            <a:ext cx="1109534" cy="556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Pedro Nicholas</a:t>
            </a:r>
            <a:endParaRPr lang="en-US" sz="14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BB5892DF-F51A-B303-EED0-8B450BBF0C30}"/>
              </a:ext>
            </a:extLst>
          </p:cNvPr>
          <p:cNvSpPr/>
          <p:nvPr/>
        </p:nvSpPr>
        <p:spPr>
          <a:xfrm>
            <a:off x="7141437" y="2982450"/>
            <a:ext cx="1192411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28/05/2026</a:t>
            </a:r>
            <a:endParaRPr lang="en-US" sz="140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E5E38BEF-07B3-25DB-F5FC-C8AA9B0D03B0}"/>
              </a:ext>
            </a:extLst>
          </p:cNvPr>
          <p:cNvSpPr/>
          <p:nvPr/>
        </p:nvSpPr>
        <p:spPr>
          <a:xfrm>
            <a:off x="8929988" y="2991615"/>
            <a:ext cx="1307306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Concluído</a:t>
            </a:r>
            <a:endParaRPr lang="en-US" sz="140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DBA76790-AE4E-B9E0-B2B6-4BC3EF4C8A57}"/>
              </a:ext>
            </a:extLst>
          </p:cNvPr>
          <p:cNvSpPr/>
          <p:nvPr/>
        </p:nvSpPr>
        <p:spPr>
          <a:xfrm>
            <a:off x="10476798" y="2240359"/>
            <a:ext cx="1215935" cy="221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23/05/2026</a:t>
            </a:r>
            <a:endParaRPr lang="en-US" sz="14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80F0893E-C875-A149-4BDE-2226B2C61CBD}"/>
              </a:ext>
            </a:extLst>
          </p:cNvPr>
          <p:cNvSpPr/>
          <p:nvPr/>
        </p:nvSpPr>
        <p:spPr>
          <a:xfrm>
            <a:off x="3657478" y="3546953"/>
            <a:ext cx="1621756" cy="42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Áreas de aplicação</a:t>
            </a:r>
            <a:endParaRPr lang="en-US" sz="1400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B36C36B5-4CA9-8C65-DD62-A1AA5E2B0A6A}"/>
              </a:ext>
            </a:extLst>
          </p:cNvPr>
          <p:cNvSpPr/>
          <p:nvPr/>
        </p:nvSpPr>
        <p:spPr>
          <a:xfrm>
            <a:off x="5475968" y="3487481"/>
            <a:ext cx="1182468" cy="451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Matheus Barbosa</a:t>
            </a:r>
            <a:endParaRPr lang="en-US" sz="140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1089187B-498F-FE08-3E24-4288D5DDDFDE}"/>
              </a:ext>
            </a:extLst>
          </p:cNvPr>
          <p:cNvSpPr/>
          <p:nvPr/>
        </p:nvSpPr>
        <p:spPr>
          <a:xfrm>
            <a:off x="7129903" y="3627223"/>
            <a:ext cx="1192411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28/05/2026</a:t>
            </a:r>
            <a:endParaRPr lang="en-US" sz="1400" dirty="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FEE40B37-CD1A-17E9-8888-D5BAE80E8D7E}"/>
              </a:ext>
            </a:extLst>
          </p:cNvPr>
          <p:cNvSpPr/>
          <p:nvPr/>
        </p:nvSpPr>
        <p:spPr>
          <a:xfrm>
            <a:off x="8940303" y="3683798"/>
            <a:ext cx="1307306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Concluído</a:t>
            </a:r>
            <a:endParaRPr lang="en-US" sz="140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921CBA1C-5C61-02C5-0C68-E7C479C679C2}"/>
              </a:ext>
            </a:extLst>
          </p:cNvPr>
          <p:cNvSpPr/>
          <p:nvPr/>
        </p:nvSpPr>
        <p:spPr>
          <a:xfrm>
            <a:off x="10454068" y="3695803"/>
            <a:ext cx="1096786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24/05/2026</a:t>
            </a:r>
            <a:endParaRPr lang="en-US" sz="1400" dirty="0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D69C0BA5-6039-9CB4-5CEF-FD3BA707C571}"/>
              </a:ext>
            </a:extLst>
          </p:cNvPr>
          <p:cNvSpPr/>
          <p:nvPr/>
        </p:nvSpPr>
        <p:spPr>
          <a:xfrm>
            <a:off x="3717635" y="4150060"/>
            <a:ext cx="1329884" cy="79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Vantagens e desvantagens</a:t>
            </a:r>
            <a:endParaRPr lang="en-US" sz="1400" dirty="0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B7034F07-92A6-DF4A-4CC7-D4C2BB1026FD}"/>
              </a:ext>
            </a:extLst>
          </p:cNvPr>
          <p:cNvSpPr/>
          <p:nvPr/>
        </p:nvSpPr>
        <p:spPr>
          <a:xfrm>
            <a:off x="5463524" y="4179306"/>
            <a:ext cx="1118771" cy="537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Matheus Barbosa</a:t>
            </a:r>
            <a:endParaRPr lang="en-US" sz="1400" dirty="0"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4A29A4C6-F706-7087-7B47-CF7C169E7FA9}"/>
              </a:ext>
            </a:extLst>
          </p:cNvPr>
          <p:cNvSpPr/>
          <p:nvPr/>
        </p:nvSpPr>
        <p:spPr>
          <a:xfrm>
            <a:off x="7141436" y="4301541"/>
            <a:ext cx="1192411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28/05/2026</a:t>
            </a:r>
            <a:endParaRPr lang="en-US" sz="1400" dirty="0"/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AC6C4C23-9A68-EF76-27C2-005C6DABFB8A}"/>
              </a:ext>
            </a:extLst>
          </p:cNvPr>
          <p:cNvSpPr/>
          <p:nvPr/>
        </p:nvSpPr>
        <p:spPr>
          <a:xfrm>
            <a:off x="8935896" y="4334044"/>
            <a:ext cx="1307306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Concluído</a:t>
            </a:r>
            <a:endParaRPr lang="en-US" sz="1400" dirty="0"/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BBEF8702-913E-519F-FE37-FB1ED328DD98}"/>
              </a:ext>
            </a:extLst>
          </p:cNvPr>
          <p:cNvSpPr/>
          <p:nvPr/>
        </p:nvSpPr>
        <p:spPr>
          <a:xfrm>
            <a:off x="10480424" y="4334044"/>
            <a:ext cx="1044074" cy="34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24/05/2026</a:t>
            </a:r>
            <a:endParaRPr lang="en-US" sz="1400" dirty="0"/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A7E0160C-2882-0FF6-2599-16AC7F0CABB8}"/>
              </a:ext>
            </a:extLst>
          </p:cNvPr>
          <p:cNvSpPr/>
          <p:nvPr/>
        </p:nvSpPr>
        <p:spPr>
          <a:xfrm>
            <a:off x="3833983" y="4918708"/>
            <a:ext cx="1310316" cy="554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Empresas que utilizam C</a:t>
            </a:r>
            <a:endParaRPr lang="en-US" sz="1400" dirty="0"/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2009A480-872A-7511-A298-6FB566ABC3DD}"/>
              </a:ext>
            </a:extLst>
          </p:cNvPr>
          <p:cNvSpPr/>
          <p:nvPr/>
        </p:nvSpPr>
        <p:spPr>
          <a:xfrm>
            <a:off x="5475968" y="5028718"/>
            <a:ext cx="1300660" cy="19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Rafael Artur</a:t>
            </a:r>
            <a:endParaRPr lang="en-US" sz="1400" dirty="0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11B66AC5-17DB-8E65-DE72-745FAE22B0E0}"/>
              </a:ext>
            </a:extLst>
          </p:cNvPr>
          <p:cNvSpPr/>
          <p:nvPr/>
        </p:nvSpPr>
        <p:spPr>
          <a:xfrm>
            <a:off x="7108297" y="5019500"/>
            <a:ext cx="1192411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28/05/2026</a:t>
            </a:r>
            <a:endParaRPr lang="en-US" sz="1400" dirty="0"/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62220D52-C6EE-F653-6AB0-EB540EA2EF4B}"/>
              </a:ext>
            </a:extLst>
          </p:cNvPr>
          <p:cNvSpPr/>
          <p:nvPr/>
        </p:nvSpPr>
        <p:spPr>
          <a:xfrm>
            <a:off x="8929988" y="5019500"/>
            <a:ext cx="1307306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Concluído</a:t>
            </a:r>
            <a:endParaRPr lang="en-US" sz="1400" dirty="0"/>
          </a:p>
        </p:txBody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03407DD6-F0DD-5805-A899-756314E874A5}"/>
              </a:ext>
            </a:extLst>
          </p:cNvPr>
          <p:cNvSpPr/>
          <p:nvPr/>
        </p:nvSpPr>
        <p:spPr>
          <a:xfrm>
            <a:off x="10454068" y="5026465"/>
            <a:ext cx="1044075" cy="302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23/05/2026</a:t>
            </a:r>
            <a:endParaRPr lang="en-US" sz="1400" dirty="0"/>
          </a:p>
        </p:txBody>
      </p:sp>
      <p:sp>
        <p:nvSpPr>
          <p:cNvPr id="49" name="Text 45">
            <a:extLst>
              <a:ext uri="{FF2B5EF4-FFF2-40B4-BE49-F238E27FC236}">
                <a16:creationId xmlns:a16="http://schemas.microsoft.com/office/drawing/2014/main" id="{3018D0AF-162D-0BCD-3016-46D7685B789C}"/>
              </a:ext>
            </a:extLst>
          </p:cNvPr>
          <p:cNvSpPr/>
          <p:nvPr/>
        </p:nvSpPr>
        <p:spPr>
          <a:xfrm>
            <a:off x="3815889" y="5622662"/>
            <a:ext cx="1407752" cy="79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Curiosidades sobre a linguagem C</a:t>
            </a:r>
            <a:endParaRPr lang="en-US" sz="1400" dirty="0"/>
          </a:p>
        </p:txBody>
      </p:sp>
      <p:sp>
        <p:nvSpPr>
          <p:cNvPr id="50" name="Text 46">
            <a:extLst>
              <a:ext uri="{FF2B5EF4-FFF2-40B4-BE49-F238E27FC236}">
                <a16:creationId xmlns:a16="http://schemas.microsoft.com/office/drawing/2014/main" id="{D066CD9F-7D13-1300-5CCA-0CB45298B34D}"/>
              </a:ext>
            </a:extLst>
          </p:cNvPr>
          <p:cNvSpPr/>
          <p:nvPr/>
        </p:nvSpPr>
        <p:spPr>
          <a:xfrm>
            <a:off x="5475968" y="5831295"/>
            <a:ext cx="1334133" cy="27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Rafael Artur</a:t>
            </a:r>
            <a:endParaRPr lang="en-US" sz="1400" dirty="0"/>
          </a:p>
        </p:txBody>
      </p:sp>
      <p:sp>
        <p:nvSpPr>
          <p:cNvPr id="51" name="Text 47">
            <a:extLst>
              <a:ext uri="{FF2B5EF4-FFF2-40B4-BE49-F238E27FC236}">
                <a16:creationId xmlns:a16="http://schemas.microsoft.com/office/drawing/2014/main" id="{C8C05ED1-8581-635E-DECB-5169D8554154}"/>
              </a:ext>
            </a:extLst>
          </p:cNvPr>
          <p:cNvSpPr/>
          <p:nvPr/>
        </p:nvSpPr>
        <p:spPr>
          <a:xfrm>
            <a:off x="7108296" y="5842221"/>
            <a:ext cx="1192411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28/05/2026</a:t>
            </a:r>
            <a:endParaRPr lang="en-US" sz="1400" dirty="0"/>
          </a:p>
        </p:txBody>
      </p:sp>
      <p:sp>
        <p:nvSpPr>
          <p:cNvPr id="52" name="Text 48">
            <a:extLst>
              <a:ext uri="{FF2B5EF4-FFF2-40B4-BE49-F238E27FC236}">
                <a16:creationId xmlns:a16="http://schemas.microsoft.com/office/drawing/2014/main" id="{FAE8E48E-5533-EC70-DE63-D0E8E7CC3529}"/>
              </a:ext>
            </a:extLst>
          </p:cNvPr>
          <p:cNvSpPr/>
          <p:nvPr/>
        </p:nvSpPr>
        <p:spPr>
          <a:xfrm>
            <a:off x="8940303" y="5783855"/>
            <a:ext cx="1307306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Concluído</a:t>
            </a:r>
            <a:endParaRPr lang="en-US" sz="1400" dirty="0"/>
          </a:p>
        </p:txBody>
      </p:sp>
      <p:sp>
        <p:nvSpPr>
          <p:cNvPr id="53" name="Text 49">
            <a:extLst>
              <a:ext uri="{FF2B5EF4-FFF2-40B4-BE49-F238E27FC236}">
                <a16:creationId xmlns:a16="http://schemas.microsoft.com/office/drawing/2014/main" id="{5E8F1846-6A2E-57E1-A542-31C37E1BDBA9}"/>
              </a:ext>
            </a:extLst>
          </p:cNvPr>
          <p:cNvSpPr/>
          <p:nvPr/>
        </p:nvSpPr>
        <p:spPr>
          <a:xfrm>
            <a:off x="10476798" y="5826200"/>
            <a:ext cx="991234" cy="652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23/05/2026</a:t>
            </a:r>
            <a:endParaRPr lang="en-US" sz="1400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BB4A1BCC-FAB1-61F8-5EAB-5945168F10AB}"/>
              </a:ext>
            </a:extLst>
          </p:cNvPr>
          <p:cNvSpPr txBox="1"/>
          <p:nvPr/>
        </p:nvSpPr>
        <p:spPr>
          <a:xfrm>
            <a:off x="142678" y="2843476"/>
            <a:ext cx="3435480" cy="520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Divisão</a:t>
            </a: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de </a:t>
            </a:r>
            <a:r>
              <a:rPr lang="en-US" sz="280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Tarefas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791115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1078</Words>
  <Application>Microsoft Office PowerPoint</Application>
  <PresentationFormat>Widescreen</PresentationFormat>
  <Paragraphs>138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Barlow Bold</vt:lpstr>
      <vt:lpstr>Calibri</vt:lpstr>
      <vt:lpstr>Calibri Light</vt:lpstr>
      <vt:lpstr>Consolas</vt:lpstr>
      <vt:lpstr>Montserrat</vt:lpstr>
      <vt:lpstr>Tema do Office</vt:lpstr>
      <vt:lpstr>Linguagem C </vt:lpstr>
      <vt:lpstr>História e Criadores da Linguagem C: </vt:lpstr>
      <vt:lpstr>Características Gerais: </vt:lpstr>
      <vt:lpstr>Exemplo de Código </vt:lpstr>
      <vt:lpstr>Areas de Aplicação:</vt:lpstr>
      <vt:lpstr>Vantagens e Desvantagens:</vt:lpstr>
      <vt:lpstr>Empresas que utilizam C:</vt:lpstr>
      <vt:lpstr>Curiosidades:</vt:lpstr>
      <vt:lpstr>Fontes e Referências Utilizadas: 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Gondim</dc:creator>
  <cp:lastModifiedBy>Francisco Gondim</cp:lastModifiedBy>
  <cp:revision>1</cp:revision>
  <dcterms:created xsi:type="dcterms:W3CDTF">2026-05-22T13:51:22Z</dcterms:created>
  <dcterms:modified xsi:type="dcterms:W3CDTF">2026-05-22T14:33:31Z</dcterms:modified>
</cp:coreProperties>
</file>